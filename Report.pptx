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41e0c706a748c6" /><Relationship Type="http://schemas.openxmlformats.org/officeDocument/2006/relationships/extended-properties" Target="/docProps/app.xml" Id="Re81a58c43d6e478e" /><Relationship Type="http://schemas.openxmlformats.org/officeDocument/2006/relationships/officeDocument" Target="/ppt/presentation.xml" Id="R72c4251c7b634e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ebc43cf31a4185"/>
  </p:sldMasterIdLst>
  <p:notesMasterIdLst>
    <p:notesMasterId xmlns:r="http://schemas.openxmlformats.org/officeDocument/2006/relationships" r:id="R5403d5f1d0e64366"/>
  </p:notesMasterIdLst>
  <p:sldIdLst>
    <p:sldId xmlns:r="http://schemas.openxmlformats.org/officeDocument/2006/relationships" id="256" r:id="R3be7be07b3e348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0333a7a401486a" /><Relationship Type="http://schemas.openxmlformats.org/officeDocument/2006/relationships/slideMaster" Target="/ppt/slideMasters/slideMaster1.xml" Id="R0febc43cf31a4185" /><Relationship Type="http://schemas.openxmlformats.org/officeDocument/2006/relationships/notesMaster" Target="/ppt/notesMasters/notesMaster1.xml" Id="R5403d5f1d0e64366" /><Relationship Type="http://schemas.openxmlformats.org/officeDocument/2006/relationships/presProps" Target="/ppt/presProps.xml" Id="R80b41f2e35694682" /><Relationship Type="http://schemas.openxmlformats.org/officeDocument/2006/relationships/tableStyles" Target="/ppt/tableStyles.xml" Id="R4fe98d5ce1e64c3a" /><Relationship Type="http://schemas.openxmlformats.org/officeDocument/2006/relationships/slide" Target="/ppt/slides/slide1.xml" Id="R3be7be07b3e348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60831d4a184d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6cfe82882c43be" /><Relationship Type="http://schemas.openxmlformats.org/officeDocument/2006/relationships/notesMaster" Target="/ppt/notesMasters/notesMaster1.xml" Id="R1c03159e7ea141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Business content: user-provided onboarding status sketch.</a:t>
            </a:r>
          </a:p>
          <a:p xmlns:a="http://schemas.openxmlformats.org/drawingml/2006/main">
            <a:r>
              <a:t>- Brand reference: BNP Paribas corporate website, https://group.bnpparibas/en/</a:t>
            </a:r>
          </a:p>
          <a:p xmlns:a="http://schemas.openxmlformats.org/drawingml/2006/main">
            <a:r>
              <a:t>- Brand reference: BNP Paribas 2023 Integrated Report, https://integrated-report.bnpparibas/2023/article/82/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4cfec35a4f4f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66e42f539544a2" /><Relationship Type="http://schemas.openxmlformats.org/officeDocument/2006/relationships/slideLayout" Target="/ppt/slideLayouts/slideLayout1.xml" Id="R978391b829044e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8391b829044e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b2f34163c4270" /><Relationship Type="http://schemas.openxmlformats.org/officeDocument/2006/relationships/notesSlide" Target="/ppt/notesSlides/notesSlide1.xml" Id="R14525ed685164f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0EAACAC-878A-4A40-8F99-51C0BD07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FB555-D3A3-425F-AC8E-A55FA647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08B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56"/>
                </a:solidFill>
                <a:latin typeface="Aptos"/>
                <a:ea typeface="Aptos"/>
                <a:cs typeface="Aptos"/>
              </a:rPr>
              <a:t>ONBOARDING STATUS REPORT  /  EXECUTIVE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71C40-07D0-49FB-BB15-50716896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62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7A83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37E"/>
                </a:solidFill>
                <a:latin typeface="Aptos"/>
                <a:ea typeface="Aptos"/>
                <a:cs typeface="Aptos"/>
              </a:rPr>
              <a:t>AS OF 8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3E6B2-2DA0-4D85-95B2-E745BD30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00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75" b="1">
                <a:solidFill>
                  <a:srgbClr val="191919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91919"/>
                </a:solidFill>
                <a:latin typeface="Aptos"/>
                <a:ea typeface="Aptos"/>
                <a:cs typeface="Aptos"/>
              </a:rPr>
              <a:t>Core onboarding foundations are live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74905-11D9-45E9-B6F9-CD3053B8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Five of nine milestones are complete; four access dependencies now gate the 2027 ramp-up.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BE5A2-AAF8-4227-BF41-2956EE62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3105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F1037-0E25-4B92-A055-E655C4FC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008B56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08B56"/>
                </a:solidFill>
                <a:latin typeface="Aptos"/>
                <a:ea typeface="Aptos"/>
                <a:cs typeface="Aptos"/>
              </a:rPr>
              <a:t>5  MILESTONES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0FCF2-6818-4A0D-B95F-D490E5F9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3875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0067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747"/>
                </a:solidFill>
                <a:latin typeface="Aptos"/>
                <a:ea typeface="Aptos"/>
                <a:cs typeface="Aptos"/>
              </a:rPr>
              <a:t>OVERALL PROGRESS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E7484-B699-43D4-87B5-8E8980BB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14525"/>
            <a:ext cx="3105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FFF20-78BA-436A-BBD9-E7FC68B0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669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191919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91919"/>
                </a:solidFill>
                <a:latin typeface="Aptos"/>
                <a:ea typeface="Aptos"/>
                <a:cs typeface="Aptos"/>
              </a:rPr>
              <a:t>4  BLOCKERS REQUIRING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D35CE-BD1A-404A-90D9-2BD93083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266825"/>
            <a:ext cx="2152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A83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37E"/>
                </a:solidFill>
                <a:latin typeface="Aptos"/>
                <a:ea typeface="Aptos"/>
                <a:cs typeface="Aptos"/>
              </a:rPr>
              <a:t>5 OF 9 MILESTONES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BD405-039A-46C1-9E6F-D913B77D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14525"/>
            <a:ext cx="3848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4D82D-61A9-4CE4-95A1-E416E301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66925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006747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06747"/>
                </a:solidFill>
                <a:latin typeface="Aptos"/>
                <a:ea typeface="Aptos"/>
                <a:cs typeface="Aptos"/>
              </a:rPr>
              <a:t>3  ROADMAP MILESTONES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83871-7A86-46AE-B615-0029C02B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85800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15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825" b="1">
                <a:solidFill>
                  <a:srgbClr val="008B56"/>
                </a:solidFill>
                <a:latin typeface="Aptos"/>
                <a:ea typeface="Aptos"/>
                <a:cs typeface="Aptos"/>
              </a:defRPr>
            </a:pPr>
            <a:r>
              <a:rPr sz="3825" b="1">
                <a:solidFill>
                  <a:srgbClr val="008B56"/>
                </a:solidFill>
                <a:latin typeface="Aptos"/>
                <a:ea typeface="Aptos"/>
                <a:cs typeface="Aptos"/>
              </a:rPr>
              <a:t>56%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77BDF-2CFF-4910-920C-2C1FEAE5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14525"/>
            <a:ext cx="0" cy="3362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CD2A5-F403-4952-A5E3-091B9077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14525"/>
            <a:ext cx="0" cy="3362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1226D6-B180-4EA3-853C-801DC0A7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5EE"/>
          </a:solidFill>
          <a:ln xmlns:a="http://schemas.openxmlformats.org/drawingml/2006/main" w="13335">
            <a:solidFill>
              <a:srgbClr val="008B56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8B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5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BE89E-1103-4645-8859-6F89098C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919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1919"/>
                </a:solidFill>
                <a:latin typeface="Aptos"/>
                <a:ea typeface="Aptos"/>
                <a:cs typeface="Aptos"/>
              </a:rPr>
              <a:t>Agents installed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CD7FFC-E21D-48F9-9612-72B14DE3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Deployed on all target hosts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A0196A-2021-4F2D-A514-C39B6757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38C755-1BF2-47DA-B20D-46C0B53B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5EE"/>
          </a:solidFill>
          <a:ln xmlns:a="http://schemas.openxmlformats.org/drawingml/2006/main" w="13335">
            <a:solidFill>
              <a:srgbClr val="008B56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8B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5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2A7B7F-5CC1-4175-90CD-C7136A87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919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1919"/>
                </a:solidFill>
                <a:latin typeface="Aptos"/>
                <a:ea typeface="Aptos"/>
                <a:cs typeface="Aptos"/>
              </a:rPr>
              <a:t>Elastic integration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72AA5C-593E-4612-91D4-6916D83C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Data pipeline fully connected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6D715A-1C1B-4F90-8AD6-3C230653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33775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629674-1C4C-4F62-AFDA-25D1F300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5EE"/>
          </a:solidFill>
          <a:ln xmlns:a="http://schemas.openxmlformats.org/drawingml/2006/main" w="13335">
            <a:solidFill>
              <a:srgbClr val="008B56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8B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5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2B381E-15D8-4D9E-904F-EDAF50A3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919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1919"/>
                </a:solidFill>
                <a:latin typeface="Aptos"/>
                <a:ea typeface="Aptos"/>
                <a:cs typeface="Aptos"/>
              </a:rPr>
              <a:t>Stakeholder meetings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BEACE9-AC7C-4FEE-A8DB-2541243C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All sessions completed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0ED4A0-DC2C-40B9-9168-8D478656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7AD5B1-6EF0-42AF-AF48-0C6D049B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5EE"/>
          </a:solidFill>
          <a:ln xmlns:a="http://schemas.openxmlformats.org/drawingml/2006/main" w="13335">
            <a:solidFill>
              <a:srgbClr val="008B56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8B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5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196F86-EAAB-4964-B12D-A1BA8AF0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291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919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1919"/>
                </a:solidFill>
                <a:latin typeface="Aptos"/>
                <a:ea typeface="Aptos"/>
                <a:cs typeface="Aptos"/>
              </a:rPr>
              <a:t>Vectr script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6085ED-5887-4415-BF77-378C8148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Scripting workflow finalized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427092-8D05-487B-9F6D-7DADA972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14875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01820A-41C9-4D57-AB88-8A5C7301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5EE"/>
          </a:solidFill>
          <a:ln xmlns:a="http://schemas.openxmlformats.org/drawingml/2006/main" w="13335">
            <a:solidFill>
              <a:srgbClr val="008B56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8B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5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8A1648-F1CE-47B3-9A28-3FED92B4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919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1919"/>
                </a:solidFill>
                <a:latin typeface="Aptos"/>
                <a:ea typeface="Aptos"/>
                <a:cs typeface="Aptos"/>
              </a:rPr>
              <a:t>SSO integration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365BDC-B9A9-44A5-BFDF-A1B227AB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Single sign-on live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AA7A8A-4B7C-4894-9FF6-E2F3A694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76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91919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9191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191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AE91A4-D398-4653-ABC0-F2AC4A9F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919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1919"/>
                </a:solidFill>
                <a:latin typeface="Aptos"/>
                <a:ea typeface="Aptos"/>
                <a:cs typeface="Aptos"/>
              </a:rPr>
              <a:t>Robotics account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842F43-5702-4840-A0AC-3F0657D5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95575"/>
            <a:ext cx="2743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Provisioning approval pending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7D0825-2B19-41AB-9A14-86D2BE2C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0375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D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8B4503-F770-45E4-9201-7CE6E3F9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718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91919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9191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191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776401-E0B8-4EAB-B40D-4442F11E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5277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919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1919"/>
                </a:solidFill>
                <a:latin typeface="Aptos"/>
                <a:ea typeface="Aptos"/>
                <a:cs typeface="Aptos"/>
              </a:rPr>
              <a:t>Tanium API key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AC6424-AE69-455A-9DBA-D1634172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90900"/>
            <a:ext cx="2743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Request remains outstanding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B6075A-669F-41A6-B3FC-6C5ACAD5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9570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D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A309C1-A374-4664-8174-5DAB5185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67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91919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9191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191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1A6F9E-BACB-4DAD-997C-D53CFB67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4810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919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1919"/>
                </a:solidFill>
                <a:latin typeface="Aptos"/>
                <a:ea typeface="Aptos"/>
                <a:cs typeface="Aptos"/>
              </a:rPr>
              <a:t>Workstation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5C0BAF-9496-4EC0-BB0A-954E5FA1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86225"/>
            <a:ext cx="2743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Not yet provisioned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65671B-2599-461B-80B1-DF9CB782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91025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D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E731FA-B289-419F-8A46-9BFC825A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624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91919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9191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191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6C4ACC-B3E4-4F2B-9096-EDE3088B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4342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919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1919"/>
                </a:solidFill>
                <a:latin typeface="Aptos"/>
                <a:ea typeface="Aptos"/>
                <a:cs typeface="Aptos"/>
              </a:rPr>
              <a:t>DLP integration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7418BB-824F-45EF-8499-28E5ED7A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81550"/>
            <a:ext cx="2743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Depends on workstation provisioning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48DBE6-511B-4734-959A-10DFCC8E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657475"/>
            <a:ext cx="0" cy="2152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D4C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8B4A33-5528-4B5F-A627-9D5E9FAA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43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B56"/>
          </a:solidFill>
          <a:ln xmlns:a="http://schemas.openxmlformats.org/drawingml/2006/main" w="19050">
            <a:solidFill>
              <a:srgbClr val="008B5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A9CD1D-A18E-4800-A5E4-6A44FF23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609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BAD889-DC69-4089-B544-2E9811A1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00674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06747"/>
                </a:solidFill>
                <a:latin typeface="Aptos"/>
                <a:ea typeface="Aptos"/>
                <a:cs typeface="Aptos"/>
              </a:rPr>
              <a:t>LATE 2026 / EARLY 2027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D96A15-744E-451D-AB4C-BDB028C9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765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9191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1919"/>
                </a:solidFill>
                <a:latin typeface="Aptos"/>
                <a:ea typeface="Aptos"/>
                <a:cs typeface="Aptos"/>
              </a:rPr>
              <a:t>PCSIRT use cases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0880FF3-5639-443E-923C-9BF737C3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432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Begin ingestion into BAS pipeline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0E9A93-E663-459E-AB7F-6B07FDDE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81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B5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4FAA47-7640-4C38-AEE6-4E774A96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9567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00674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06747"/>
                </a:solidFill>
                <a:latin typeface="Aptos"/>
                <a:ea typeface="Aptos"/>
                <a:cs typeface="Aptos"/>
              </a:rPr>
              <a:t>Q1 2027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41C3975-4923-414D-BF79-1EC41EA7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9191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1919"/>
                </a:solidFill>
                <a:latin typeface="Aptos"/>
                <a:ea typeface="Aptos"/>
                <a:cs typeface="Aptos"/>
              </a:rPr>
              <a:t>DLP use cases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39C258-9EA2-4FA2-95C5-CF9A496E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814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Add use cases to the test suite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CB227F9-DE48-4027-9E0E-9EFB0B7F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19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B5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9BA2A38-CAE9-4CA3-9C48-5D79A723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339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00674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06747"/>
                </a:solidFill>
                <a:latin typeface="Aptos"/>
                <a:ea typeface="Aptos"/>
                <a:cs typeface="Aptos"/>
              </a:rPr>
              <a:t>Q2 2027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4684F3D-EAC3-41CC-AAD8-AB488CCC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529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9191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1919"/>
                </a:solidFill>
                <a:latin typeface="Aptos"/>
                <a:ea typeface="Aptos"/>
                <a:cs typeface="Aptos"/>
              </a:rPr>
              <a:t>Continuous testing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9DD8382-8684-4603-B8B0-5C8B329B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196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6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B"/>
                </a:solidFill>
                <a:latin typeface="Aptos"/>
                <a:ea typeface="Aptos"/>
                <a:cs typeface="Aptos"/>
              </a:rPr>
              <a:t>Complete the CTS ramp-up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F15D0D2-6560-4F2B-AF5C-8EF67F94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008B5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CDCDCD7-BFAF-45FE-971B-28E12BEF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76950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08B5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B56"/>
                </a:solidFill>
                <a:latin typeface="Aptos"/>
                <a:ea typeface="Aptos"/>
                <a:cs typeface="Aptos"/>
              </a:rPr>
              <a:t>MANAGEMENT ATTENTION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192A9AD-6B9A-45B6-8597-5FC254B2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048375"/>
            <a:ext cx="821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>
                <a:solidFill>
                  <a:srgbClr val="191919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91919"/>
                </a:solidFill>
                <a:latin typeface="Aptos"/>
                <a:ea typeface="Aptos"/>
                <a:cs typeface="Aptos"/>
              </a:rPr>
              <a:t>Approve Robotics account  ·  Release Tanium key  ·  Provision workstation to unlock DLP</a:t>
            </a:r>
          </a:p>
        </p:txBody>
      </p:sp>
      <p:sp>
        <p:nvSpPr>
          <p:cNvPr id="69" name="management-attention-band">
            <a:extLst xmlns:a="http://schemas.openxmlformats.org/drawingml/2006/main">
              <a:ext uri="{FF2B5EF4-FFF2-40B4-BE49-F238E27FC236}">
                <a16:creationId xmlns:a16="http://schemas.microsoft.com/office/drawing/2014/main" id="{3905B098-CFD9-4B8E-843D-73F08864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9DDC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2593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2026-09-08T19:23:09.2150000Z</dcterms:created>
  <dcterms:modified xsi:type="dcterms:W3CDTF">2026-09-08T19:23:09.2150000Z</dcterms:modified>
</coreProperties>
</file>